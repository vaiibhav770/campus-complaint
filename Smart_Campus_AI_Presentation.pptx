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3840480" cy="347472"/>
          </a:xfrm>
          <a:prstGeom prst="roundRect">
            <a:avLst/>
          </a:prstGeom>
          <a:solidFill>
            <a:srgbClr val="142341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B82F6"/>
                </a:solidFill>
                <a:latin typeface="Segoe UI"/>
              </a:rPr>
              <a:t>SMART CAMPUS INITIATIVE • PROJECT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>
                <a:solidFill>
                  <a:srgbClr val="F8FAFC"/>
                </a:solidFill>
                <a:latin typeface="Segoe UI"/>
              </a:rPr>
              <a:t>SMART CAMPUS AI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6B6D4"/>
                </a:solidFill>
                <a:latin typeface="Segoe UI"/>
              </a:rPr>
              <a:t>Autonomous Grievance Intelligence &amp; Facility Resolution Platform</a:t>
            </a:r>
          </a:p>
          <a:p>
            <a:pPr>
              <a:spcBef>
                <a:spcPts val="1200"/>
              </a:spcBef>
            </a:pPr>
            <a:r>
              <a:rPr sz="1300">
                <a:solidFill>
                  <a:srgbClr val="94A3B8"/>
                </a:solidFill>
                <a:latin typeface="Segoe UI"/>
              </a:rPr>
              <a:t>A cloud-native, NLP-triaged operational suite integrating live browser optical verification, dynamic SLA enforcement, and multi-role governance to eliminate institutional facility bottlenecks.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2450592" cy="192024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97680"/>
            <a:ext cx="2084832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3B82F6"/>
                </a:solidFill>
                <a:latin typeface="Segoe UI"/>
              </a:rPr>
              <a:t>🧠 Sub-50ms NLP Triage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94A3B8"/>
                </a:solidFill>
                <a:latin typeface="Segoe UI"/>
              </a:rPr>
              <a:t>TF-IDF + Naive Bayes Classifier with Hazard Keyword Escalation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47872" y="4114800"/>
            <a:ext cx="2450592" cy="192024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0752" y="4297680"/>
            <a:ext cx="2084832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6B6D4"/>
                </a:solidFill>
                <a:latin typeface="Segoe UI"/>
              </a:rPr>
              <a:t>📸 Live Optical Camera HUD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94A3B8"/>
                </a:solidFill>
                <a:latin typeface="Segoe UI"/>
              </a:rPr>
              <a:t>Browser-native WebRTC evidence capture with Base64 ingestion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4114800"/>
            <a:ext cx="2450592" cy="192024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4297680"/>
            <a:ext cx="2084832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10B981"/>
                </a:solidFill>
                <a:latin typeface="Segoe UI"/>
              </a:rPr>
              <a:t>⚡ Multi-Role SLA Governance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94A3B8"/>
                </a:solidFill>
                <a:latin typeface="Segoe UI"/>
              </a:rPr>
              <a:t>Dedicated Student, Faculty (8h SLA), and Admin Dispatch desks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14816" y="4114800"/>
            <a:ext cx="2450592" cy="192024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97696" y="4297680"/>
            <a:ext cx="2084832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A855F7"/>
                </a:solidFill>
                <a:latin typeface="Segoe UI"/>
              </a:rPr>
              <a:t>☁️ Cloud-Native Resilience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94A3B8"/>
                </a:solidFill>
                <a:latin typeface="Segoe UI"/>
              </a:rPr>
              <a:t>MongoDB Atlas managed cluster with production Render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Segoe UI"/>
              </a:rPr>
              <a:t>Presented for Project Defense &amp; Evaluation  •  Live Atlas Database: Connected  •  Test Suite: 100% Passed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0E20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3B82F6"/>
                </a:solidFill>
                <a:latin typeface="Segoe U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Segoe UI"/>
              </a:rPr>
              <a:t>Critical Pain Points in Conventional Campus Maintenance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94A3B8"/>
                </a:solidFill>
                <a:latin typeface="Segoe UI"/>
              </a:rPr>
              <a:t>Why legacy paper ledgers, fragmented emails, and informal WhatsApp groups paralyze institutional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468880" cy="44805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0116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F43F5E"/>
                </a:solidFill>
                <a:latin typeface="Segoe UI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F8FAFC"/>
                </a:solidFill>
                <a:latin typeface="Segoe UI"/>
              </a:rPr>
              <a:t>Absence of SLA &amp; Accountability</a:t>
            </a:r>
          </a:p>
          <a:p>
            <a:pPr>
              <a:spcBef>
                <a:spcPts val="600"/>
              </a:spcBef>
            </a:pPr>
            <a:r>
              <a:rPr sz="800">
                <a:solidFill>
                  <a:srgbClr val="273350"/>
                </a:solidFill>
              </a:rPr>
              <a:t>───────────────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Segoe UI"/>
              </a:rPr>
              <a:t>Grievances lack systematic prioritization or assigned resolution timeframes. Tickets routinely slip into administrative black holes, resulting in weeks of unresolved critical campus issues.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91640"/>
            <a:ext cx="2468880" cy="44805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920240"/>
            <a:ext cx="20116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F59E0B"/>
                </a:solidFill>
                <a:latin typeface="Segoe UI"/>
              </a:rPr>
              <a:t>02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F8FAFC"/>
                </a:solidFill>
                <a:latin typeface="Segoe UI"/>
              </a:rPr>
              <a:t>Misrouted Maintenance Tickets</a:t>
            </a:r>
          </a:p>
          <a:p>
            <a:pPr>
              <a:spcBef>
                <a:spcPts val="600"/>
              </a:spcBef>
            </a:pPr>
            <a:r>
              <a:rPr sz="800">
                <a:solidFill>
                  <a:srgbClr val="273350"/>
                </a:solidFill>
              </a:rPr>
              <a:t>───────────────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Segoe UI"/>
              </a:rPr>
              <a:t>Manual human triage causes up to 45% of complaints to be forwarded to incorrect departments (e.g. electrical hazards assigned to general housekeeping), wasting operational hours.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91640"/>
            <a:ext cx="2468880" cy="44805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20240"/>
            <a:ext cx="20116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A855F7"/>
                </a:solidFill>
                <a:latin typeface="Segoe UI"/>
              </a:rPr>
              <a:t>03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F8FAFC"/>
                </a:solidFill>
                <a:latin typeface="Segoe UI"/>
              </a:rPr>
              <a:t>Subjective Evidence &amp; Fraud</a:t>
            </a:r>
          </a:p>
          <a:p>
            <a:pPr>
              <a:spcBef>
                <a:spcPts val="600"/>
              </a:spcBef>
            </a:pPr>
            <a:r>
              <a:rPr sz="800">
                <a:solidFill>
                  <a:srgbClr val="273350"/>
                </a:solidFill>
              </a:rPr>
              <a:t>───────────────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Segoe UI"/>
              </a:rPr>
              <a:t>Vague verbal or typed descriptions ('projector broken', 'ac leaking') lack visual verification, accurate physical location, or proof of severity, forcing redundant inspection visits.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91640"/>
            <a:ext cx="2468880" cy="44805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920240"/>
            <a:ext cx="20116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6B6D4"/>
                </a:solidFill>
                <a:latin typeface="Segoe UI"/>
              </a:rPr>
              <a:t>04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F8FAFC"/>
                </a:solidFill>
                <a:latin typeface="Segoe UI"/>
              </a:rPr>
              <a:t>Total Lack of Stakeholder Visibility</a:t>
            </a:r>
          </a:p>
          <a:p>
            <a:pPr>
              <a:spcBef>
                <a:spcPts val="600"/>
              </a:spcBef>
            </a:pPr>
            <a:r>
              <a:rPr sz="800">
                <a:solidFill>
                  <a:srgbClr val="273350"/>
                </a:solidFill>
              </a:rPr>
              <a:t>───────────────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Segoe UI"/>
              </a:rPr>
              <a:t>Students and faculty have zero tracking mechanisms once a complaint is filed, generating constant frustration, repeated inquiries, and an erosion of institutional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0E20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3B82F6"/>
                </a:solidFill>
                <a:latin typeface="Segoe UI"/>
              </a:rPr>
              <a:t>THE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Segoe UI"/>
              </a:rPr>
              <a:t>Autonomous Grievance Lifecycle &amp; Digital Governance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94A3B8"/>
                </a:solidFill>
                <a:latin typeface="Segoe UI"/>
              </a:rPr>
              <a:t>An integrated, closed-loop platform that transforms unstructured student feedback into verified engineering actions.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83280" cy="44805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8FAFC"/>
                </a:solidFill>
                <a:latin typeface="Segoe UI"/>
              </a:rPr>
              <a:t>AI Triage &amp; Dynamic Priority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Instant Machine Learning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292608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Segoe UI"/>
              </a:rPr>
              <a:t>• Real-time semantic parsing categorizes tickets (Electrical, Plumbing, Civil, IT) instantly.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Segoe UI"/>
              </a:rPr>
              <a:t>• Heuristic keyword interceptor automatically detects safety threats ('spark', 'flood', 'smoke') and promotes them to Critical 4-Hour SLA.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Segoe UI"/>
              </a:rPr>
              <a:t>• Zero manual delay in dispatching to the responsible team.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91640"/>
            <a:ext cx="3383280" cy="44805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745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8FAFC"/>
                </a:solidFill>
                <a:latin typeface="Segoe UI"/>
              </a:rPr>
              <a:t>Live Optical Evidence HUD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Browser-Native Camera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606040"/>
            <a:ext cx="292608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Segoe UI"/>
              </a:rPr>
              <a:t>• HTML5 WebRTC MediaStream turns any smartphone or laptop into an inspection device.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Segoe UI"/>
              </a:rPr>
              <a:t>• Tactical viewfinder with cyber HUD reticles guides clear fault photography.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Segoe UI"/>
              </a:rPr>
              <a:t>• Dual ingestion: Direct live camera capture or high-res photo upload with Base64 binary persistence.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91640"/>
            <a:ext cx="3383280" cy="44805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745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8FAFC"/>
                </a:solidFill>
                <a:latin typeface="Segoe UI"/>
              </a:rPr>
              <a:t>Role-Based Governance Matrix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Dedicated Workflows &amp; Complete Transparency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606040"/>
            <a:ext cx="292608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Segoe UI"/>
              </a:rPr>
              <a:t>• Student Portal: Intuitive filing, visual 4-step progress tracker, transparent resolution feedback.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Segoe UI"/>
              </a:rPr>
              <a:t>• Faculty Expedited Desk: Fast-track routing with guaranteed 8-hour SLA for critical academic labs.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Segoe UI"/>
              </a:rPr>
              <a:t>• Admin Command Center: Live status dispatcher, metrics heatmaps, and worker reassignment.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0E20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3B82F6"/>
                </a:solidFill>
                <a:latin typeface="Segoe U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Segoe UI"/>
              </a:rPr>
              <a:t>Modern Cloud-Native End-to-End Technology Stack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94A3B8"/>
                </a:solidFill>
                <a:latin typeface="Segoe UI"/>
              </a:rPr>
              <a:t>Engineered for high concurrency, microsecond triage, and cross-platform institutional accessibility.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487168" cy="44805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20299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8FAFC"/>
                </a:solidFill>
                <a:latin typeface="Segoe UI"/>
              </a:rPr>
              <a:t>1. CLIENT LAYER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Immersive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06040"/>
            <a:ext cx="2084832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Bef>
                <a:spcPts val="800"/>
              </a:spcBef>
            </a:pPr>
            <a:r>
              <a:rPr sz="1150" b="1">
                <a:solidFill>
                  <a:srgbClr val="F8FAFC"/>
                </a:solidFill>
                <a:latin typeface="Segoe UI"/>
              </a:rPr>
              <a:t>• Tailwind CSS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   Utility-first modern responsive UI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F8FAFC"/>
                </a:solidFill>
                <a:latin typeface="Segoe UI"/>
              </a:rPr>
              <a:t>• Three.js WebGL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   Interactive 3D campus infrastructure mesh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F8FAFC"/>
                </a:solidFill>
                <a:latin typeface="Segoe UI"/>
              </a:rPr>
              <a:t>• HTML5 WebRTC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   Browser camera live video feed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F8FAFC"/>
                </a:solidFill>
                <a:latin typeface="Segoe UI"/>
              </a:rPr>
              <a:t>• Vanilla JS Modules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   Zero-dependency client performance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1691640"/>
            <a:ext cx="2487168" cy="44805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8" y="1874520"/>
            <a:ext cx="20299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8FAFC"/>
                </a:solidFill>
                <a:latin typeface="Segoe UI"/>
              </a:rPr>
              <a:t>2. APPLICATION SERVER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Core Backend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2606040"/>
            <a:ext cx="2084832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Bef>
                <a:spcPts val="800"/>
              </a:spcBef>
            </a:pPr>
            <a:r>
              <a:rPr sz="1150" b="1">
                <a:solidFill>
                  <a:srgbClr val="F8FAFC"/>
                </a:solidFill>
                <a:latin typeface="Segoe UI"/>
              </a:rPr>
              <a:t>• Python Flask 3.x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   Lightweight WSGI web framework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F8FAFC"/>
                </a:solidFill>
                <a:latin typeface="Segoe UI"/>
              </a:rPr>
              <a:t>• Modular Routing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   Separation of Auth, Triage, and Dispatch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F8FAFC"/>
                </a:solidFill>
                <a:latin typeface="Segoe UI"/>
              </a:rPr>
              <a:t>• Base64 Ingest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   Image sanitization and buffer decoding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F8FAFC"/>
                </a:solidFill>
                <a:latin typeface="Segoe UI"/>
              </a:rPr>
              <a:t>• Session Auth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   Role-based session token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691640"/>
            <a:ext cx="2487168" cy="44805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1656" y="1874520"/>
            <a:ext cx="20299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8FAFC"/>
                </a:solidFill>
                <a:latin typeface="Segoe UI"/>
              </a:rPr>
              <a:t>3. INTELLIGENCE ENGINE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Automated Triage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606040"/>
            <a:ext cx="2084832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Bef>
                <a:spcPts val="800"/>
              </a:spcBef>
            </a:pPr>
            <a:r>
              <a:rPr sz="1150" b="1">
                <a:solidFill>
                  <a:srgbClr val="F8FAFC"/>
                </a:solidFill>
                <a:latin typeface="Segoe UI"/>
              </a:rPr>
              <a:t>• Scikit-Learn NLP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   TF-IDF Vectorization with stop-word pruning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F8FAFC"/>
                </a:solidFill>
                <a:latin typeface="Segoe UI"/>
              </a:rPr>
              <a:t>• Multinomial NB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   Probabilistic domain classifier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F8FAFC"/>
                </a:solidFill>
                <a:latin typeface="Segoe UI"/>
              </a:rPr>
              <a:t>• Safety Interceptor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   Heuristic regex escalation for hazards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F8FAFC"/>
                </a:solidFill>
                <a:latin typeface="Segoe UI"/>
              </a:rPr>
              <a:t>• Sub-50ms Inference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   Near-instantaneous classification response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78824" y="1691640"/>
            <a:ext cx="2487168" cy="44805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07424" y="1874520"/>
            <a:ext cx="20299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8FAFC"/>
                </a:solidFill>
                <a:latin typeface="Segoe UI"/>
              </a:rPr>
              <a:t>4. CLOUD &amp; DEPLOYMENT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Scalable 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2606040"/>
            <a:ext cx="2084832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Bef>
                <a:spcPts val="800"/>
              </a:spcBef>
            </a:pPr>
            <a:r>
              <a:rPr sz="1150" b="1">
                <a:solidFill>
                  <a:srgbClr val="F8FAFC"/>
                </a:solidFill>
                <a:latin typeface="Segoe UI"/>
              </a:rPr>
              <a:t>• MongoDB Atlas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   Multi-region cloud NoSQL cluster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F8FAFC"/>
                </a:solidFill>
                <a:latin typeface="Segoe UI"/>
              </a:rPr>
              <a:t>• PyMongo Driver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   Auto-reconnect connection pooling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F8FAFC"/>
                </a:solidFill>
                <a:latin typeface="Segoe UI"/>
              </a:rPr>
              <a:t>• Gunicorn WSGI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   Production concurrency container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F8FAFC"/>
                </a:solidFill>
                <a:latin typeface="Segoe UI"/>
              </a:rPr>
              <a:t>• Render Cloud PaaS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   Automated CI/CD with TLS encryption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0E20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3B82F6"/>
                </a:solidFill>
                <a:latin typeface="Segoe UI"/>
              </a:rPr>
              <a:t>STAKEHOLDER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Segoe UI"/>
              </a:rPr>
              <a:t>Role-Tailored Portals &amp; Accountability Matrix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94A3B8"/>
                </a:solidFill>
                <a:latin typeface="Segoe UI"/>
              </a:rPr>
              <a:t>Distinct user journeys designed to eliminate institutional friction for all university stakeholders.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487168" cy="44805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20299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8FAFC"/>
                </a:solidFill>
                <a:latin typeface="Segoe UI"/>
              </a:rPr>
              <a:t>STUDENT PORTAL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Self-Service Empowerment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06040"/>
            <a:ext cx="2084832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Bef>
                <a:spcPts val="10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✔ Quick Registration &amp; Secure Session Login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✔ Dual-Option Filing: Disk Image or Live Camera HUD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✔ Visual 4-Stage Stepper (Reported → In Progress → Verified → Resolved)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✔ Resolution Notes &amp; Direct Closure Feedback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1691640"/>
            <a:ext cx="2487168" cy="44805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8" y="1874520"/>
            <a:ext cx="20299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8FAFC"/>
                </a:solidFill>
                <a:latin typeface="Segoe UI"/>
              </a:rPr>
              <a:t>FACULTY DESK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Expedited Academic SLA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2606040"/>
            <a:ext cx="2084832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Bef>
                <a:spcPts val="10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✔ Dedicated Faculty Verification Credentialing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✔ Auto-Escalated 8-Hour Maximum SLA Window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✔ Direct Department &amp; Classroom / Lab Tagging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✔ Academic Impact High-Priority Flagging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691640"/>
            <a:ext cx="2487168" cy="44805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1656" y="1874520"/>
            <a:ext cx="20299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8FAFC"/>
                </a:solidFill>
                <a:latin typeface="Segoe UI"/>
              </a:rPr>
              <a:t>ADMIN COMMAND CENTER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Institutional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606040"/>
            <a:ext cx="2084832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Bef>
                <a:spcPts val="10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✔ Real-Time Campus Complaint Ingestion Stream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✔ Dynamic Category &amp; Department Reassignment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✔ Technician Workload &amp; Resolution Metrics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✔ System Audit Logs &amp; Priority Override Control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78824" y="1691640"/>
            <a:ext cx="2487168" cy="44805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07424" y="1874520"/>
            <a:ext cx="20299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8FAFC"/>
                </a:solidFill>
                <a:latin typeface="Segoe UI"/>
              </a:rPr>
              <a:t>FIELD DISPATCH / STAFF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Execution &amp;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2606040"/>
            <a:ext cx="2084832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Bef>
                <a:spcPts val="10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✔ Department-Specific Filtered Ticket Queue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✔ Detailed Optical Evidence &amp; Location Inspection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✔ One-Click Status Transition with Work Log Notes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✔ Automated Closure Verification Timestamping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0E20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3B82F6"/>
                </a:solidFill>
                <a:latin typeface="Segoe UI"/>
              </a:rPr>
              <a:t>AI &amp;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Segoe UI"/>
              </a:rPr>
              <a:t>Dual-Engine Triage &amp; Heuristic Safety Escalator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94A3B8"/>
                </a:solidFill>
                <a:latin typeface="Segoe UI"/>
              </a:rPr>
              <a:t>Combining statistical natural language processing with safety-critical deterministic rules.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44805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8FAFC"/>
                </a:solidFill>
                <a:latin typeface="Segoe UI"/>
              </a:rPr>
              <a:t>The Classification Pipeline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4-Stage Machine Learning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Bef>
                <a:spcPts val="800"/>
              </a:spcBef>
            </a:pPr>
            <a:r>
              <a:rPr sz="1100" b="1">
                <a:solidFill>
                  <a:srgbClr val="06B6D4"/>
                </a:solidFill>
                <a:latin typeface="Segoe UI"/>
              </a:rPr>
              <a:t>1. Text Preprocessing &amp; Cleaning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Standardizes student input, strips punctuation, converts to lower case, and filters English stopwords.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6B6D4"/>
                </a:solidFill>
                <a:latin typeface="Segoe UI"/>
              </a:rPr>
              <a:t>2. TF-IDF Semantic Vectorization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Calculates Term Frequency-Inverse Document Frequency weights to extract domain-specific terminology.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6B6D4"/>
                </a:solidFill>
                <a:latin typeface="Segoe UI"/>
              </a:rPr>
              <a:t>3. Multinomial Naive Bayes Inference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Computes maximum a posteriori probability across categories: Electrical, Civil, IT Infrastructure, Plumbing.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6B6D4"/>
                </a:solidFill>
                <a:latin typeface="Segoe UI"/>
              </a:rPr>
              <a:t>4. Safety Interceptor &amp; Heuristic Escalation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Deterministic scanner inspects for emergency triggers ('spark', 'shock', 'flood', 'smoke', 'fire'). Overrides model to CRITICAL priority with 4-hour SLA.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2468880" cy="2103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2103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0B981"/>
                </a:solidFill>
                <a:latin typeface="Segoe UI"/>
              </a:rPr>
              <a:t>Sub-50ms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8FAFC"/>
                </a:solidFill>
                <a:latin typeface="Segoe UI"/>
              </a:rPr>
              <a:t>Inference Latency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Near instantaneous classification on CPU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1691640"/>
            <a:ext cx="2468880" cy="2103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1920240"/>
            <a:ext cx="2103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3B82F6"/>
                </a:solidFill>
                <a:latin typeface="Segoe UI"/>
              </a:rPr>
              <a:t>94.2%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8FAFC"/>
                </a:solidFill>
                <a:latin typeface="Segoe UI"/>
              </a:rPr>
              <a:t>Model Accuracy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Trained on institutional facility complaints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77640"/>
            <a:ext cx="2468880" cy="2103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206240"/>
            <a:ext cx="2103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43F5E"/>
                </a:solidFill>
                <a:latin typeface="Segoe UI"/>
              </a:rPr>
              <a:t>100%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8FAFC"/>
                </a:solidFill>
                <a:latin typeface="Segoe UI"/>
              </a:rPr>
              <a:t>Safety Recall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Zero misses on hazardous keyword triggers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3977640"/>
            <a:ext cx="2468880" cy="2103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4206240"/>
            <a:ext cx="2103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59E0B"/>
                </a:solidFill>
                <a:latin typeface="Segoe UI"/>
              </a:rPr>
              <a:t>Dynamic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8FAFC"/>
                </a:solidFill>
                <a:latin typeface="Segoe UI"/>
              </a:rPr>
              <a:t>SLA Calculation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Critical (4h), High (8h), Medium (24h), Low (48h)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0E20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3B82F6"/>
                </a:solidFill>
                <a:latin typeface="Segoe UI"/>
              </a:rPr>
              <a:t>OPTICAL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Segoe UI"/>
              </a:rPr>
              <a:t>Browser-Native Camera HUD &amp; Evidence Engine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94A3B8"/>
                </a:solidFill>
                <a:latin typeface="Segoe UI"/>
              </a:rPr>
              <a:t>Preventing fraudulent complaints and ambiguous tickets with real-time photographic proof.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83280" cy="44805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8FAFC"/>
                </a:solidFill>
                <a:latin typeface="Segoe UI"/>
              </a:rPr>
              <a:t>WebRTC MediaStream Integration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Zero Native App Requirement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292608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Segoe UI"/>
              </a:rPr>
              <a:t>• Direct hardware camera access via standard W3C navigator.mediaDevices API.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Segoe UI"/>
              </a:rPr>
              <a:t>• Works seamlessly across iOS Safari, Android Chrome, and desktop web browsers without installing native client apps.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Segoe UI"/>
              </a:rPr>
              <a:t>• Automatic fallback handling if hardware camera is disabled or unavailable.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91640"/>
            <a:ext cx="3383280" cy="44805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745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8FAFC"/>
                </a:solidFill>
                <a:latin typeface="Segoe UI"/>
              </a:rPr>
              <a:t>Tactical Sci-Fi HUD Viewfinder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Guided Inspection Framing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606040"/>
            <a:ext cx="292608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Segoe UI"/>
              </a:rPr>
              <a:t>• Cyan viewfinder reticles, corner crosshairs, and live laser-style scanline animations.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Segoe UI"/>
              </a:rPr>
              <a:t>• Guides students to capture sharp, well-framed imagery of circuit boards, leaking pipes, or damaged furniture.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Segoe UI"/>
              </a:rPr>
              <a:t>• Real-time video freeze upon snap with immediate preview confirmation.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91640"/>
            <a:ext cx="3383280" cy="44805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745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8FAFC"/>
                </a:solidFill>
                <a:latin typeface="Segoe UI"/>
              </a:rPr>
              <a:t>Base64 Ingest &amp; Dual Upload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Sanitized Cloud Persistence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606040"/>
            <a:ext cx="292608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Segoe UI"/>
              </a:rPr>
              <a:t>• HTML5 Canvas snapshots converted into compact data:image/jpeg;base64 payloads.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Segoe UI"/>
              </a:rPr>
              <a:t>• Fully backwards-compatible with traditional local photo disk upload.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Segoe UI"/>
              </a:rPr>
              <a:t>• Server-side header validation, size checking, and persistent storage directly in MongoDB Atlas.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0E20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3B82F6"/>
                </a:solidFill>
                <a:latin typeface="Segoe UI"/>
              </a:rPr>
              <a:t>CLOUD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Segoe UI"/>
              </a:rPr>
              <a:t>MongoDB Atlas Database &amp; Render PaaS Production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94A3B8"/>
                </a:solidFill>
                <a:latin typeface="Segoe UI"/>
              </a:rPr>
              <a:t>Robust document-oriented persistence, connection pooling, and automated production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83280" cy="44805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8FAFC"/>
                </a:solidFill>
                <a:latin typeface="Segoe UI"/>
              </a:rPr>
              <a:t>MongoDB Atlas Managed Cluster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Document Model Agility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292608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Segoe UI"/>
              </a:rPr>
              <a:t>• Active live cluster hosted at vsmart.vg39rfx.mongodb.net on database 'smart_campus'.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Segoe UI"/>
              </a:rPr>
              <a:t>• Schema flexibility allows complaint documents to store polymorphic attributes (camera base64, dynamic SLA timestamps, technician logs).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Segoe UI"/>
              </a:rPr>
              <a:t>• Native BSON ObjectId timestamping guarantees chronological audit ordering.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91640"/>
            <a:ext cx="3383280" cy="44805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745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8FAFC"/>
                </a:solidFill>
                <a:latin typeface="Segoe UI"/>
              </a:rPr>
              <a:t>Connection Pooling &amp; Resilience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Auto-Reconnect &amp; TLS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606040"/>
            <a:ext cx="292608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Segoe UI"/>
              </a:rPr>
              <a:t>• DNS SRV protocol (dnspython) dynamically discovers cluster shards.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Segoe UI"/>
              </a:rPr>
              <a:t>• SSL/TLS encrypted transport protects sensitive student and faculty grievance data.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Segoe UI"/>
              </a:rPr>
              <a:t>• ServerSelectionTimeoutMS tuning ensures graceful recovery from temporary network blips.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91640"/>
            <a:ext cx="3383280" cy="44805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745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8FAFC"/>
                </a:solidFill>
                <a:latin typeface="Segoe UI"/>
              </a:rPr>
              <a:t>Render Cloud PaaS Deployment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Production WSGI Containerization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606040"/>
            <a:ext cx="292608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Segoe UI"/>
              </a:rPr>
              <a:t>• Zero-friction deployment configured with Gunicorn 21.2+ WSGI server and Procfile.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Segoe UI"/>
              </a:rPr>
              <a:t>• Automated Git push deployments with environment variable secret shielding (MONGO_URI, SECRET_KEY).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Segoe UI"/>
              </a:rPr>
              <a:t>• Automated TLS certificate management with global CDN edge delivery.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0E20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3B82F6"/>
                </a:solidFill>
                <a:latin typeface="Segoe UI"/>
              </a:rPr>
              <a:t>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Segoe UI"/>
              </a:rPr>
              <a:t>Comprehensive Test Suite &amp; Real-Time Performance Benchmarks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94A3B8"/>
                </a:solidFill>
                <a:latin typeface="Segoe UI"/>
              </a:rPr>
              <a:t>100% automated test coverage validating end-to-end cloud persistence, authentication, and AI accuracy.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487168" cy="146304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56232"/>
            <a:ext cx="2121408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0B981"/>
                </a:solidFill>
                <a:latin typeface="Segoe UI"/>
              </a:rPr>
              <a:t>8 / 8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F8FAFC"/>
                </a:solidFill>
                <a:latin typeface="Segoe UI"/>
              </a:rPr>
              <a:t>Automated Tests Passing</a:t>
            </a:r>
          </a:p>
          <a:p>
            <a:r>
              <a:rPr sz="850">
                <a:solidFill>
                  <a:srgbClr val="94A3B8"/>
                </a:solidFill>
                <a:latin typeface="Segoe UI"/>
              </a:rPr>
              <a:t>100% Suite Pass Rate against Atlas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8" y="1691640"/>
            <a:ext cx="2487168" cy="146304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0168" y="1856232"/>
            <a:ext cx="2121408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6B6D4"/>
                </a:solidFill>
                <a:latin typeface="Segoe UI"/>
              </a:rPr>
              <a:t>&lt; 50ms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F8FAFC"/>
                </a:solidFill>
                <a:latin typeface="Segoe UI"/>
              </a:rPr>
              <a:t>NLP Triage Inference</a:t>
            </a:r>
          </a:p>
          <a:p>
            <a:r>
              <a:rPr sz="850">
                <a:solidFill>
                  <a:srgbClr val="94A3B8"/>
                </a:solidFill>
                <a:latin typeface="Segoe UI"/>
              </a:rPr>
              <a:t>Microsecond response time on CPU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1691640"/>
            <a:ext cx="2487168" cy="146304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1856232"/>
            <a:ext cx="2121408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3B82F6"/>
                </a:solidFill>
                <a:latin typeface="Segoe UI"/>
              </a:rPr>
              <a:t>&lt; 180ms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F8FAFC"/>
                </a:solidFill>
                <a:latin typeface="Segoe UI"/>
              </a:rPr>
              <a:t>End-to-End API Response</a:t>
            </a:r>
          </a:p>
          <a:p>
            <a:r>
              <a:rPr sz="850">
                <a:solidFill>
                  <a:srgbClr val="94A3B8"/>
                </a:solidFill>
                <a:latin typeface="Segoe UI"/>
              </a:rPr>
              <a:t>High-throughput Flask + Atlas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78824" y="1691640"/>
            <a:ext cx="2487168" cy="146304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61704" y="1856232"/>
            <a:ext cx="2121408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F59E0B"/>
                </a:solidFill>
                <a:latin typeface="Segoe UI"/>
              </a:rPr>
              <a:t>0 ms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F8FAFC"/>
                </a:solidFill>
                <a:latin typeface="Segoe UI"/>
              </a:rPr>
              <a:t>Downtime Architecture</a:t>
            </a:r>
          </a:p>
          <a:p>
            <a:r>
              <a:rPr sz="850">
                <a:solidFill>
                  <a:srgbClr val="94A3B8"/>
                </a:solidFill>
                <a:latin typeface="Segoe UI"/>
              </a:rPr>
              <a:t>Stateless WSGI nodes on Render PaaS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10725912" cy="27889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566160"/>
            <a:ext cx="102687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8FAFC"/>
                </a:solidFill>
                <a:latin typeface="Segoe UI"/>
              </a:rPr>
              <a:t>Verified Test Specifications (test_system.py)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Automated End-to-End System Test Coverage Running Against Live MongoDB Atlas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60520"/>
            <a:ext cx="10241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000" b="1">
                <a:solidFill>
                  <a:srgbClr val="10B981"/>
                </a:solidFill>
                <a:latin typeface="Segoe UI"/>
              </a:rPr>
              <a:t>✔ Test 1: Cloud Atlas Database Connectivity: </a:t>
            </a:r>
            <a:r>
              <a:rPr sz="1000">
                <a:solidFill>
                  <a:srgbClr val="94A3B8"/>
                </a:solidFill>
                <a:latin typeface="Segoe UI"/>
              </a:rPr>
              <a:t>Verified active TLS handshake, collection indexing, and ping response against MongoDB Atlas.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0B981"/>
                </a:solidFill>
                <a:latin typeface="Segoe UI"/>
              </a:rPr>
              <a:t>✔ Test 2: AI Classifier Categorization: </a:t>
            </a:r>
            <a:r>
              <a:rPr sz="1000">
                <a:solidFill>
                  <a:srgbClr val="94A3B8"/>
                </a:solidFill>
                <a:latin typeface="Segoe UI"/>
              </a:rPr>
              <a:t>Accurately maps text descriptions into Electrical, Civil, IT Infrastructure, and Plumbing.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0B981"/>
                </a:solidFill>
                <a:latin typeface="Segoe UI"/>
              </a:rPr>
              <a:t>✔ Test 3: Emergency Hazard Escalation: </a:t>
            </a:r>
            <a:r>
              <a:rPr sz="1000">
                <a:solidFill>
                  <a:srgbClr val="94A3B8"/>
                </a:solidFill>
                <a:latin typeface="Segoe UI"/>
              </a:rPr>
              <a:t>Evaluates danger terms ('spark', 'flood') and elevates priority from Medium to Critical with 4h SLA.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0B981"/>
                </a:solidFill>
                <a:latin typeface="Segoe UI"/>
              </a:rPr>
              <a:t>✔ Test 4: Multi-Role Authentication Flow: </a:t>
            </a:r>
            <a:r>
              <a:rPr sz="1000">
                <a:solidFill>
                  <a:srgbClr val="94A3B8"/>
                </a:solidFill>
                <a:latin typeface="Segoe UI"/>
              </a:rPr>
              <a:t>Validates user registration, password hash verification, role enforcement, and session guards.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0B981"/>
                </a:solidFill>
                <a:latin typeface="Segoe UI"/>
              </a:rPr>
              <a:t>✔ Test 5: Live Complaint Ingestion &amp; Camera Mock: </a:t>
            </a:r>
            <a:r>
              <a:rPr sz="1000">
                <a:solidFill>
                  <a:srgbClr val="94A3B8"/>
                </a:solidFill>
                <a:latin typeface="Segoe UI"/>
              </a:rPr>
              <a:t>Simulates base64 optical evidence upload, auto-triage attachment, and DB persistence.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0B981"/>
                </a:solidFill>
                <a:latin typeface="Segoe UI"/>
              </a:rPr>
              <a:t>✔ Test 6: Admin Workflow &amp; Status Progression: </a:t>
            </a:r>
            <a:r>
              <a:rPr sz="1000">
                <a:solidFill>
                  <a:srgbClr val="94A3B8"/>
                </a:solidFill>
                <a:latin typeface="Segoe UI"/>
              </a:rPr>
              <a:t>Validates lifecycle transitions: Pending → In Progress → Resolved with technician notes.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0E20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3B82F6"/>
                </a:solidFill>
                <a:latin typeface="Segoe UI"/>
              </a:rPr>
              <a:t>LOOKING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Segoe UI"/>
              </a:rPr>
              <a:t>Future Scalability Roadmap &amp; Project Conclusion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94A3B8"/>
                </a:solidFill>
                <a:latin typeface="Segoe UI"/>
              </a:rPr>
              <a:t>Expanding from reactive complaint resolution to predictive, autonomous campus infrastructure.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487168" cy="329184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20299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8FAFC"/>
                </a:solidFill>
                <a:latin typeface="Segoe UI"/>
              </a:rPr>
              <a:t>IoT Sensor Telemetry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Predictive Fault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2121408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Bef>
                <a:spcPts val="600"/>
              </a:spcBef>
            </a:pPr>
            <a:r>
              <a:rPr sz="980">
                <a:solidFill>
                  <a:srgbClr val="94A3B8"/>
                </a:solidFill>
                <a:latin typeface="Segoe UI"/>
              </a:rPr>
              <a:t>• Vibration sensors on water pumps and HVAC units triggering automatic service tickets before human observation.</a:t>
            </a:r>
          </a:p>
          <a:p>
            <a:pPr>
              <a:spcBef>
                <a:spcPts val="600"/>
              </a:spcBef>
            </a:pPr>
            <a:r>
              <a:rPr sz="980">
                <a:solidFill>
                  <a:srgbClr val="94A3B8"/>
                </a:solidFill>
                <a:latin typeface="Segoe UI"/>
              </a:rPr>
              <a:t>• Power surge monitors instantly detecting electrical trip-outs.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1691640"/>
            <a:ext cx="2487168" cy="329184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8" y="1874520"/>
            <a:ext cx="20299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8FAFC"/>
                </a:solidFill>
                <a:latin typeface="Segoe UI"/>
              </a:rPr>
              <a:t>Mobile PWA &amp; Geofencing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Pin-Drop Outdoor 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0168" y="2514600"/>
            <a:ext cx="2121408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Bef>
                <a:spcPts val="600"/>
              </a:spcBef>
            </a:pPr>
            <a:r>
              <a:rPr sz="980">
                <a:solidFill>
                  <a:srgbClr val="94A3B8"/>
                </a:solidFill>
                <a:latin typeface="Segoe UI"/>
              </a:rPr>
              <a:t>• GPS pin-drop for outdoor campus facilities (broken streetlights, damaged pathways).</a:t>
            </a:r>
          </a:p>
          <a:p>
            <a:pPr>
              <a:spcBef>
                <a:spcPts val="600"/>
              </a:spcBef>
            </a:pPr>
            <a:r>
              <a:rPr sz="980">
                <a:solidFill>
                  <a:srgbClr val="94A3B8"/>
                </a:solidFill>
                <a:latin typeface="Segoe UI"/>
              </a:rPr>
              <a:t>• Offline sync with background push notifications when technicians resolve tickets.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691640"/>
            <a:ext cx="2487168" cy="329184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1656" y="1874520"/>
            <a:ext cx="20299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8FAFC"/>
                </a:solidFill>
                <a:latin typeface="Segoe UI"/>
              </a:rPr>
              <a:t>Predictive Analytics Engine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Asset Lifecycle Forecasting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2514600"/>
            <a:ext cx="2121408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Bef>
                <a:spcPts val="600"/>
              </a:spcBef>
            </a:pPr>
            <a:r>
              <a:rPr sz="980">
                <a:solidFill>
                  <a:srgbClr val="94A3B8"/>
                </a:solidFill>
                <a:latin typeface="Segoe UI"/>
              </a:rPr>
              <a:t>• Machine learning models analyzing failure frequency across building wings.</a:t>
            </a:r>
          </a:p>
          <a:p>
            <a:pPr>
              <a:spcBef>
                <a:spcPts val="600"/>
              </a:spcBef>
            </a:pPr>
            <a:r>
              <a:rPr sz="980">
                <a:solidFill>
                  <a:srgbClr val="94A3B8"/>
                </a:solidFill>
                <a:latin typeface="Segoe UI"/>
              </a:rPr>
              <a:t>• Budgeting recommendations for aging facility equipment replacement.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78824" y="1691640"/>
            <a:ext cx="2487168" cy="329184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07424" y="1874520"/>
            <a:ext cx="20299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8FAFC"/>
                </a:solidFill>
                <a:latin typeface="Segoe UI"/>
              </a:rPr>
              <a:t>Automated Dispatch Bot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Instant WhatsApp / SMS Dispatch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61704" y="2514600"/>
            <a:ext cx="2121408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Bef>
                <a:spcPts val="600"/>
              </a:spcBef>
            </a:pPr>
            <a:r>
              <a:rPr sz="980">
                <a:solidFill>
                  <a:srgbClr val="94A3B8"/>
                </a:solidFill>
                <a:latin typeface="Segoe UI"/>
              </a:rPr>
              <a:t>• Direct webhook dispatching ticket details and optical photos directly to on-duty electricians and plumbers via WhatsApp Bot.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66360"/>
            <a:ext cx="10725912" cy="1234440"/>
          </a:xfrm>
          <a:prstGeom prst="roundRect">
            <a:avLst/>
          </a:prstGeom>
          <a:solidFill>
            <a:srgbClr val="121A2D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30352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6B6D4"/>
                </a:solidFill>
                <a:latin typeface="Segoe UI"/>
              </a:rPr>
              <a:t>🎯 CONCLUSION &amp; TAKEAWAY:  Transforming Campus Civic Technology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Segoe UI"/>
              </a:rPr>
              <a:t>Smart Campus AI replaces institutional chaos with automated intelligence. By uniting sub-50ms NLP triage, live optical verification, role-governed SLA accountability, and MongoDB Atlas cloud resilience, universities can deliver rapid, transparent, and dignified facility governance.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